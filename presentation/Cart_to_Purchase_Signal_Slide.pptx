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Cart → Purchase Signal: Why Cart History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BD4"/>
                </a:solidFill>
                <a:latin typeface="Calibri"/>
              </a:rPr>
              <a:t>Active-user cohort (K≥5)  ·  Synerise RecSys 2025  ·  Hypothesis-motivating 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566160" cy="73152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04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6F97"/>
                </a:solidFill>
                <a:latin typeface="Calibri"/>
              </a:rPr>
              <a:t>24.8%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4B"/>
                </a:solidFill>
                <a:latin typeface="Calibri"/>
              </a:rPr>
              <a:t>Pair-level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878K of 3.5M carted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user–SKU pairs later bought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2588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566160" cy="73152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904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6F97"/>
                </a:solidFill>
                <a:latin typeface="Calibri"/>
              </a:rPr>
              <a:t>81.7%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4B"/>
                </a:solidFill>
                <a:latin typeface="Calibri"/>
              </a:rPr>
              <a:t>Purchases with prior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Same-SKU cart precedes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most purchases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2588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3566160" cy="73152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4904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6F97"/>
                </a:solidFill>
                <a:latin typeface="Calibri"/>
              </a:rPr>
              <a:t>~11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4B"/>
                </a:solidFill>
                <a:latin typeface="Calibri"/>
              </a:rPr>
              <a:t>Median cart→buy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86.5% of converters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within 24 hours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926080"/>
            <a:ext cx="5669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108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Calibri"/>
              </a:rPr>
              <a:t>When conversions happen (of eventual buyers)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4B"/>
                </a:solidFill>
                <a:latin typeface="Calibri"/>
              </a:rPr>
              <a:t>Within 1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A6F97"/>
                </a:solidFill>
                <a:latin typeface="Calibri"/>
              </a:rPr>
              <a:t>72%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58768"/>
            <a:ext cx="5029200" cy="201168"/>
          </a:xfrm>
          <a:prstGeom prst="roundRect">
            <a:avLst/>
          </a:prstGeom>
          <a:solidFill>
            <a:srgbClr val="E6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3858768"/>
            <a:ext cx="3621024" cy="201168"/>
          </a:xfrm>
          <a:prstGeom prst="round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4B"/>
                </a:solidFill>
                <a:latin typeface="Calibri"/>
              </a:rPr>
              <a:t>Within 24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A6F97"/>
                </a:solidFill>
                <a:latin typeface="Calibri"/>
              </a:rPr>
              <a:t>87%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44568"/>
            <a:ext cx="5029200" cy="201168"/>
          </a:xfrm>
          <a:prstGeom prst="roundRect">
            <a:avLst/>
          </a:prstGeom>
          <a:solidFill>
            <a:srgbClr val="E6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4544568"/>
            <a:ext cx="4350258" cy="201168"/>
          </a:xfrm>
          <a:prstGeom prst="round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37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4B"/>
                </a:solidFill>
                <a:latin typeface="Calibri"/>
              </a:rPr>
              <a:t>Within 7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937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A6F97"/>
                </a:solidFill>
                <a:latin typeface="Calibri"/>
              </a:rPr>
              <a:t>95%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230368"/>
            <a:ext cx="5029200" cy="201168"/>
          </a:xfrm>
          <a:prstGeom prst="roundRect">
            <a:avLst/>
          </a:prstGeom>
          <a:solidFill>
            <a:srgbClr val="E6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230368"/>
            <a:ext cx="4802886" cy="201168"/>
          </a:xfrm>
          <a:prstGeom prst="round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669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73"/>
                </a:solidFill>
                <a:latin typeface="Calibri"/>
              </a:rPr>
              <a:t>Most cart→buy conversions are near-term — cart is a fresh intent signal,</a:t>
            </a:r>
          </a:p>
          <a:p>
            <a:pPr>
              <a:spcBef>
                <a:spcPts val="0"/>
              </a:spcBef>
            </a:pPr>
            <a:r>
              <a:rPr sz="1200" b="0">
                <a:solidFill>
                  <a:srgbClr val="5C6B73"/>
                </a:solidFill>
                <a:latin typeface="Calibri"/>
              </a:rPr>
              <a:t>not a weak proxy for old purchase history.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926080"/>
            <a:ext cx="5532120" cy="3566160"/>
          </a:xfrm>
          <a:prstGeom prst="round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Implication for our hypothesis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611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C4CF"/>
                </a:solidFill>
                <a:latin typeface="Calibri"/>
              </a:rPr>
              <a:t>▸  Cart is informative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D5E0E6"/>
                </a:solidFill>
                <a:latin typeface="Calibri"/>
              </a:rPr>
              <a:t>≈1 in 4 carted items later purchased — not noise.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27024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C4CF"/>
                </a:solidFill>
                <a:latin typeface="Calibri"/>
              </a:rPr>
              <a:t>▸  Cart precedes purchase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D5E0E6"/>
                </a:solidFill>
                <a:latin typeface="Calibri"/>
              </a:rPr>
              <a:t>81.7% of buys had a prior same-SKU cart-add.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92861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C4CF"/>
                </a:solidFill>
                <a:latin typeface="Calibri"/>
              </a:rPr>
              <a:t>▸  Cart is timely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D5E0E6"/>
                </a:solidFill>
                <a:latin typeface="Calibri"/>
              </a:rPr>
              <a:t>Median lag ~11 min; 87% convert within a day.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58698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C4CF"/>
                </a:solidFill>
                <a:latin typeface="Calibri"/>
              </a:rPr>
              <a:t>▸  Still incomplete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D5E0E6"/>
                </a:solidFill>
                <a:latin typeface="Calibri"/>
              </a:rPr>
              <a:t>75% of carts never convert → keep remove / non-buy as weak/negative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