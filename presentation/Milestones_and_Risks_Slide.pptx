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828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Milestones &amp;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BD4"/>
                </a:solidFill>
                <a:latin typeface="Calibri"/>
              </a:rPr>
              <a:t>8-week plan across 4 phases  ·  DS5500 Behavior-Aware Sequential Recommendation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88720"/>
            <a:ext cx="26974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2697480" cy="50292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280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5E0E6"/>
                </a:solidFill>
                <a:latin typeface="Calibri"/>
              </a:rPr>
              <a:t>Wks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4B"/>
                </a:solidFill>
                <a:latin typeface="Calibri"/>
              </a:rPr>
              <a:t>Ingest &amp; EDA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488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Calibri"/>
              </a:rPr>
              <a:t>•  Repo + pipeline setup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Active-user cohort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Preliminary EDA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188720"/>
            <a:ext cx="26974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188720"/>
            <a:ext cx="2697480" cy="502920"/>
          </a:xfrm>
          <a:prstGeom prst="rect">
            <a:avLst/>
          </a:prstGeom>
          <a:solidFill>
            <a:srgbClr val="3D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2618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280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5E0E6"/>
                </a:solidFill>
                <a:latin typeface="Calibri"/>
              </a:rPr>
              <a:t>Wks 3–4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783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4B"/>
                </a:solidFill>
                <a:latin typeface="Calibri"/>
              </a:rPr>
              <a:t>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21488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Calibri"/>
              </a:rPr>
              <a:t>•  Category clustering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Popularity / LightFM / SASRec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Eval pipeline + temporal split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1188720"/>
            <a:ext cx="26974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188720"/>
            <a:ext cx="2697480" cy="502920"/>
          </a:xfrm>
          <a:prstGeom prst="rect">
            <a:avLst/>
          </a:prstGeom>
          <a:solidFill>
            <a:srgbClr val="1B5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2618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1280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5E0E6"/>
                </a:solidFill>
                <a:latin typeface="Calibri"/>
              </a:rPr>
              <a:t>Wks 5–6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783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4B"/>
                </a:solidFill>
                <a:latin typeface="Calibri"/>
              </a:rPr>
              <a:t>Cart-aware 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1488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Calibri"/>
              </a:rPr>
              <a:t>•  Cart-augmented sequences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Retrain SASRec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Category-conditioned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1188720"/>
            <a:ext cx="269748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188720"/>
            <a:ext cx="2697480" cy="502920"/>
          </a:xfrm>
          <a:prstGeom prst="rect">
            <a:avLst/>
          </a:prstGeom>
          <a:solidFill>
            <a:srgbClr val="144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26187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1280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5E0E6"/>
                </a:solidFill>
                <a:latin typeface="Calibri"/>
              </a:rPr>
              <a:t>Wks 7–8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1783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3A4B"/>
                </a:solidFill>
                <a:latin typeface="Calibri"/>
              </a:rPr>
              <a:t>Evaluate &amp; deliver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148840"/>
            <a:ext cx="2468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Calibri"/>
              </a:rPr>
              <a:t>•  Novelty / Coverage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Ablation + final report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5C6B73"/>
                </a:solidFill>
                <a:latin typeface="Calibri"/>
              </a:rPr>
              <a:t>•  Slides + public GitHub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" y="3977639"/>
            <a:ext cx="1152144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D0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3977639"/>
            <a:ext cx="91440" cy="265176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11479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4B"/>
                </a:solidFill>
                <a:latin typeface="Calibri"/>
              </a:rPr>
              <a:t>Risks &amp; Mitigations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480559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C4749"/>
                </a:solidFill>
                <a:latin typeface="Calibri"/>
              </a:rPr>
              <a:t>⚠  Anonymized categories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C6B73"/>
                </a:solidFill>
                <a:latin typeface="Calibri"/>
              </a:rPr>
              <a:t>Risk: No human-readable labels → harder to interpret category effects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B3A4B"/>
                </a:solidFill>
                <a:latin typeface="Calibri"/>
              </a:rPr>
              <a:t>Mitigation: Report results as anonymized groups; avoid overclaiming semantics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480559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C4749"/>
                </a:solidFill>
                <a:latin typeface="Calibri"/>
              </a:rPr>
              <a:t>⚠  Scale / compute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C6B73"/>
                </a:solidFill>
                <a:latin typeface="Calibri"/>
              </a:rPr>
              <a:t>Risk: Full logs are huge for sequence build + training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B3A4B"/>
                </a:solidFill>
                <a:latin typeface="Calibri"/>
              </a:rPr>
              <a:t>Mitigation: Subsample stratified active-user cohort; cache Parquet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486399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C4749"/>
                </a:solidFill>
                <a:latin typeface="Calibri"/>
              </a:rPr>
              <a:t>⚠  Purchase sparsity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C6B73"/>
                </a:solidFill>
                <a:latin typeface="Calibri"/>
              </a:rPr>
              <a:t>Risk: Noisy estimates for rare categories / short histories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B3A4B"/>
                </a:solidFill>
                <a:latin typeface="Calibri"/>
              </a:rPr>
              <a:t>Mitigation: Min activity threshold (K≥5); bootstrap CIs, not point estimates 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5486399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C4749"/>
                </a:solidFill>
                <a:latin typeface="Calibri"/>
              </a:rPr>
              <a:t>⚠  Negative transfer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5C6B73"/>
                </a:solidFill>
                <a:latin typeface="Calibri"/>
              </a:rPr>
              <a:t>Risk: One global category model may hurt heterogeneous groups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B3A4B"/>
                </a:solidFill>
                <a:latin typeface="Calibri"/>
              </a:rPr>
              <a:t>Mitigation: Category-stratified evaluation to detect and report transfer risk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